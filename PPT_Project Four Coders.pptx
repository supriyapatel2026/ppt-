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292" r:id="rId5"/>
    <p:sldId id="1291" r:id="rId6"/>
    <p:sldId id="1292" r:id="rId7"/>
    <p:sldId id="1294"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366"/>
    <a:srgbClr val="851910"/>
    <a:srgbClr val="1A7C73"/>
    <a:srgbClr val="E8ECF8"/>
    <a:srgbClr val="EF6331"/>
    <a:srgbClr val="00717D"/>
    <a:srgbClr val="C9D2ED"/>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94" y="102"/>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txBody>
          <a:bodyPr/>
          <a:lstStyle/>
          <a:p>
            <a:endParaRPr lang="en-IN"/>
          </a:p>
        </p:txBody>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4582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6712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880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23-09-2026</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21516918"/>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5"/>
          <a:srcRect/>
          <a:tile tx="0" ty="0" sx="100000" sy="100000" flip="none" algn="tl"/>
        </a:blipFill>
        <a:effectLst/>
      </p:bgPr>
    </p:bg>
    <p:spTree>
      <p:nvGrpSpPr>
        <p:cNvPr id="1" name="Shape 5"/>
        <p:cNvGrpSpPr/>
        <p:nvPr/>
      </p:nvGrpSpPr>
      <p:grpSpPr>
        <a:xfrm>
          <a:off x="0" y="0"/>
          <a:ext cx="0" cy="0"/>
          <a:chOff x="0" y="0"/>
          <a:chExt cx="0" cy="0"/>
        </a:xfrm>
      </p:grpSpPr>
      <p:sp>
        <p:nvSpPr>
          <p:cNvPr id="2" name="Rectangle 1">
            <a:extLst>
              <a:ext uri="{FF2B5EF4-FFF2-40B4-BE49-F238E27FC236}">
                <a16:creationId xmlns:a16="http://schemas.microsoft.com/office/drawing/2014/main" id="{1C8B4DC1-1FB6-97A3-9F51-B9358500E0A8}"/>
              </a:ext>
            </a:extLst>
          </p:cNvPr>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7B0C45-392E-206A-6503-A52CA087AB64}"/>
              </a:ext>
            </a:extLst>
          </p:cNvPr>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6">
            <a:alphaModFix/>
          </a:blip>
          <a:srcRect/>
          <a:stretch/>
        </p:blipFill>
        <p:spPr>
          <a:xfrm>
            <a:off x="7717638" y="48027"/>
            <a:ext cx="1125129" cy="376123"/>
          </a:xfrm>
          <a:prstGeom prst="rect">
            <a:avLst/>
          </a:prstGeom>
          <a:noFill/>
          <a:ln>
            <a:noFill/>
          </a:ln>
        </p:spPr>
      </p:pic>
      <p:sp>
        <p:nvSpPr>
          <p:cNvPr id="14" name="Rectangle 13">
            <a:extLst>
              <a:ext uri="{FF2B5EF4-FFF2-40B4-BE49-F238E27FC236}">
                <a16:creationId xmlns:a16="http://schemas.microsoft.com/office/drawing/2014/main" id="{51E902BD-DE18-50F7-2A75-FEB6FA54A56F}"/>
              </a:ext>
            </a:extLst>
          </p:cNvPr>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15" r:id="rId3"/>
  </p:sldLayoutIdLst>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48131F8-7219-F30F-23C3-B1A523F13B4D}"/>
              </a:ext>
            </a:extLst>
          </p:cNvPr>
          <p:cNvSpPr/>
          <p:nvPr/>
        </p:nvSpPr>
        <p:spPr>
          <a:xfrm>
            <a:off x="0" y="504731"/>
            <a:ext cx="9144001" cy="4545676"/>
          </a:xfrm>
          <a:prstGeom prst="rect">
            <a:avLst/>
          </a:prstGeom>
          <a:solidFill>
            <a:srgbClr val="2233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                                                                                                                                                                                       </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dirty="0">
                <a:highlight>
                  <a:srgbClr val="851910"/>
                </a:highlight>
              </a:rPr>
              <a:t> FOUR CODERS </a:t>
            </a:r>
          </a:p>
        </p:txBody>
      </p:sp>
      <p:grpSp>
        <p:nvGrpSpPr>
          <p:cNvPr id="9" name="Group 6">
            <a:extLst>
              <a:ext uri="{FF2B5EF4-FFF2-40B4-BE49-F238E27FC236}">
                <a16:creationId xmlns:a16="http://schemas.microsoft.com/office/drawing/2014/main" id="{ED09A716-F5FD-30AD-BA53-B5110DF9CEEE}"/>
              </a:ext>
            </a:extLst>
          </p:cNvPr>
          <p:cNvGrpSpPr/>
          <p:nvPr/>
        </p:nvGrpSpPr>
        <p:grpSpPr>
          <a:xfrm>
            <a:off x="594671" y="1413882"/>
            <a:ext cx="5094819" cy="2365222"/>
            <a:chOff x="0" y="-47625"/>
            <a:chExt cx="1548591" cy="761589"/>
          </a:xfrm>
        </p:grpSpPr>
        <p:sp>
          <p:nvSpPr>
            <p:cNvPr id="10" name="Freeform 7">
              <a:extLst>
                <a:ext uri="{FF2B5EF4-FFF2-40B4-BE49-F238E27FC236}">
                  <a16:creationId xmlns:a16="http://schemas.microsoft.com/office/drawing/2014/main" id="{6A1020B1-E8B3-2D26-3C61-328C79130C0D}"/>
                </a:ext>
              </a:extLst>
            </p:cNvPr>
            <p:cNvSpPr/>
            <p:nvPr/>
          </p:nvSpPr>
          <p:spPr>
            <a:xfrm>
              <a:off x="0" y="-1255"/>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dirty="0"/>
            </a:p>
          </p:txBody>
        </p:sp>
        <p:sp>
          <p:nvSpPr>
            <p:cNvPr id="11" name="TextBox 8">
              <a:extLst>
                <a:ext uri="{FF2B5EF4-FFF2-40B4-BE49-F238E27FC236}">
                  <a16:creationId xmlns:a16="http://schemas.microsoft.com/office/drawing/2014/main" id="{2F1C3D6B-7CF9-2BD5-8B36-9878D3FBC36D}"/>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12" name="Group 9">
            <a:extLst>
              <a:ext uri="{FF2B5EF4-FFF2-40B4-BE49-F238E27FC236}">
                <a16:creationId xmlns:a16="http://schemas.microsoft.com/office/drawing/2014/main" id="{AE32C22C-3FDB-2396-2943-AFA12977BDA2}"/>
              </a:ext>
            </a:extLst>
          </p:cNvPr>
          <p:cNvGrpSpPr/>
          <p:nvPr/>
        </p:nvGrpSpPr>
        <p:grpSpPr>
          <a:xfrm>
            <a:off x="594928" y="891981"/>
            <a:ext cx="5094819" cy="716506"/>
            <a:chOff x="-138794" y="-155327"/>
            <a:chExt cx="1991689" cy="334248"/>
          </a:xfrm>
        </p:grpSpPr>
        <p:sp>
          <p:nvSpPr>
            <p:cNvPr id="13" name="Freeform 10">
              <a:extLst>
                <a:ext uri="{FF2B5EF4-FFF2-40B4-BE49-F238E27FC236}">
                  <a16:creationId xmlns:a16="http://schemas.microsoft.com/office/drawing/2014/main" id="{DD5D5B45-D48F-CBC2-FAE6-3C32D4CA4A54}"/>
                </a:ext>
              </a:extLst>
            </p:cNvPr>
            <p:cNvSpPr/>
            <p:nvPr/>
          </p:nvSpPr>
          <p:spPr>
            <a:xfrm>
              <a:off x="-138794" y="-155327"/>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dirty="0"/>
            </a:p>
          </p:txBody>
        </p:sp>
        <p:sp>
          <p:nvSpPr>
            <p:cNvPr id="14" name="TextBox 11">
              <a:extLst>
                <a:ext uri="{FF2B5EF4-FFF2-40B4-BE49-F238E27FC236}">
                  <a16:creationId xmlns:a16="http://schemas.microsoft.com/office/drawing/2014/main" id="{D4602096-BB2A-D06A-F2F9-A1B85FB7B21D}"/>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a:extLst>
              <a:ext uri="{FF2B5EF4-FFF2-40B4-BE49-F238E27FC236}">
                <a16:creationId xmlns:a16="http://schemas.microsoft.com/office/drawing/2014/main" id="{E92715B5-E2D3-4776-93F0-B360B5A59553}"/>
              </a:ext>
            </a:extLst>
          </p:cNvPr>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a:alphaModFix amt="32000"/>
              <a:extLst>
                <a:ext uri="{96DAC541-7B7A-43D3-8B79-37D633B846F1}">
                  <asvg:svgBlip xmlns:asvg="http://schemas.microsoft.com/office/drawing/2016/SVG/main" r:embed="rId3"/>
                </a:ext>
              </a:extLst>
            </a:blip>
            <a:srcRect/>
            <a:stretch>
              <a:fillRect t="-106728" r="-65303"/>
            </a:stretch>
          </a:blipFill>
        </p:spPr>
        <p:txBody>
          <a:bodyPr/>
          <a:lstStyle/>
          <a:p>
            <a:endParaRPr lang="en-US"/>
          </a:p>
        </p:txBody>
      </p:sp>
      <p:sp>
        <p:nvSpPr>
          <p:cNvPr id="17" name="Freeform 14">
            <a:extLst>
              <a:ext uri="{FF2B5EF4-FFF2-40B4-BE49-F238E27FC236}">
                <a16:creationId xmlns:a16="http://schemas.microsoft.com/office/drawing/2014/main" id="{E93B0532-3834-38EB-306B-BB126F538A06}"/>
              </a:ext>
            </a:extLst>
          </p:cNvPr>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a:alphaModFix amt="30000"/>
              <a:extLst>
                <a:ext uri="{96DAC541-7B7A-43D3-8B79-37D633B846F1}">
                  <asvg:svgBlip xmlns:asvg="http://schemas.microsoft.com/office/drawing/2016/SVG/main" r:embed="rId4"/>
                </a:ext>
              </a:extLst>
            </a:blip>
            <a:srcRect/>
            <a:stretch>
              <a:fillRect/>
            </a:stretch>
          </a:blipFill>
        </p:spPr>
        <p:txBody>
          <a:bodyPr/>
          <a:lstStyle/>
          <a:p>
            <a:endParaRPr lang="en-US"/>
          </a:p>
        </p:txBody>
      </p:sp>
      <p:sp>
        <p:nvSpPr>
          <p:cNvPr id="35" name="TextBox 34">
            <a:extLst>
              <a:ext uri="{FF2B5EF4-FFF2-40B4-BE49-F238E27FC236}">
                <a16:creationId xmlns:a16="http://schemas.microsoft.com/office/drawing/2014/main" id="{B1520DAD-F8CC-E505-163A-1A40C1FCC226}"/>
              </a:ext>
            </a:extLst>
          </p:cNvPr>
          <p:cNvSpPr txBox="1"/>
          <p:nvPr/>
        </p:nvSpPr>
        <p:spPr>
          <a:xfrm>
            <a:off x="793046" y="2168628"/>
            <a:ext cx="5094819" cy="523220"/>
          </a:xfrm>
          <a:prstGeom prst="rect">
            <a:avLst/>
          </a:prstGeom>
          <a:noFill/>
        </p:spPr>
        <p:txBody>
          <a:bodyPr wrap="square" rtlCol="0">
            <a:spAutoFit/>
          </a:bodyPr>
          <a:lstStyle/>
          <a:p>
            <a:pPr>
              <a:spcAft>
                <a:spcPts val="200"/>
              </a:spcAft>
              <a:buClr>
                <a:schemeClr val="bg1"/>
              </a:buClr>
            </a:pPr>
            <a:r>
              <a:rPr lang="en-IN" sz="2800" b="1" dirty="0">
                <a:solidFill>
                  <a:schemeClr val="tx1">
                    <a:lumMod val="95000"/>
                  </a:schemeClr>
                </a:solidFill>
              </a:rPr>
              <a:t>Monthly Expense Analysis</a:t>
            </a:r>
          </a:p>
        </p:txBody>
      </p:sp>
      <p:sp>
        <p:nvSpPr>
          <p:cNvPr id="41" name="TextBox 40">
            <a:extLst>
              <a:ext uri="{FF2B5EF4-FFF2-40B4-BE49-F238E27FC236}">
                <a16:creationId xmlns:a16="http://schemas.microsoft.com/office/drawing/2014/main" id="{94658D58-B26B-B263-E4E7-719E9EA907D6}"/>
              </a:ext>
            </a:extLst>
          </p:cNvPr>
          <p:cNvSpPr txBox="1"/>
          <p:nvPr/>
        </p:nvSpPr>
        <p:spPr>
          <a:xfrm>
            <a:off x="3817376" y="4175267"/>
            <a:ext cx="2168784" cy="769441"/>
          </a:xfrm>
          <a:prstGeom prst="rect">
            <a:avLst/>
          </a:prstGeom>
          <a:noFill/>
        </p:spPr>
        <p:txBody>
          <a:bodyPr wrap="square" lIns="91440" tIns="45720" rIns="91440" bIns="45720" anchor="t">
            <a:spAutoFit/>
          </a:bodyPr>
          <a:lstStyle/>
          <a:p>
            <a:pPr>
              <a:buClr>
                <a:schemeClr val="bg1"/>
              </a:buClr>
            </a:pPr>
            <a:r>
              <a:rPr lang="en-IN" sz="1100" dirty="0">
                <a:solidFill>
                  <a:schemeClr val="bg1">
                    <a:lumMod val="95000"/>
                  </a:schemeClr>
                </a:solidFill>
              </a:rPr>
              <a:t> 1.   Supriya</a:t>
            </a:r>
          </a:p>
          <a:p>
            <a:pPr>
              <a:buClr>
                <a:schemeClr val="bg1"/>
              </a:buClr>
            </a:pPr>
            <a:r>
              <a:rPr lang="en-IN" sz="1100" dirty="0">
                <a:solidFill>
                  <a:schemeClr val="bg1">
                    <a:lumMod val="95000"/>
                  </a:schemeClr>
                </a:solidFill>
              </a:rPr>
              <a:t>  2.  Ritika Maurya</a:t>
            </a:r>
          </a:p>
          <a:p>
            <a:pPr>
              <a:buClr>
                <a:schemeClr val="bg1"/>
              </a:buClr>
            </a:pPr>
            <a:r>
              <a:rPr lang="en-IN" sz="1100" dirty="0">
                <a:solidFill>
                  <a:schemeClr val="bg1">
                    <a:lumMod val="95000"/>
                  </a:schemeClr>
                </a:solidFill>
              </a:rPr>
              <a:t>  3.  Shivangi Mishra </a:t>
            </a:r>
          </a:p>
          <a:p>
            <a:pPr>
              <a:buClr>
                <a:schemeClr val="bg1"/>
              </a:buClr>
            </a:pPr>
            <a:r>
              <a:rPr lang="en-IN" sz="1100" dirty="0">
                <a:solidFill>
                  <a:schemeClr val="bg1">
                    <a:lumMod val="95000"/>
                  </a:schemeClr>
                </a:solidFill>
              </a:rPr>
              <a:t>  4.  Divya Mishra1</a:t>
            </a:r>
          </a:p>
        </p:txBody>
      </p:sp>
      <p:cxnSp>
        <p:nvCxnSpPr>
          <p:cNvPr id="42" name="Straight Connector 41">
            <a:extLst>
              <a:ext uri="{FF2B5EF4-FFF2-40B4-BE49-F238E27FC236}">
                <a16:creationId xmlns:a16="http://schemas.microsoft.com/office/drawing/2014/main" id="{DDA9C646-678B-4CA4-AAF5-5A0CA4DB2AC5}"/>
              </a:ext>
            </a:extLst>
          </p:cNvPr>
          <p:cNvCxnSpPr>
            <a:cxnSpLocks/>
          </p:cNvCxnSpPr>
          <p:nvPr/>
        </p:nvCxnSpPr>
        <p:spPr>
          <a:xfrm>
            <a:off x="3706080" y="4152652"/>
            <a:ext cx="1806953" cy="22615"/>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a:extLst>
              <a:ext uri="{FF2B5EF4-FFF2-40B4-BE49-F238E27FC236}">
                <a16:creationId xmlns:a16="http://schemas.microsoft.com/office/drawing/2014/main" id="{43C0C02E-B24A-392F-8483-77C0267C88E1}"/>
              </a:ext>
            </a:extLst>
          </p:cNvPr>
          <p:cNvSpPr txBox="1"/>
          <p:nvPr/>
        </p:nvSpPr>
        <p:spPr>
          <a:xfrm>
            <a:off x="6356412" y="3857218"/>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dirty="0">
                <a:solidFill>
                  <a:schemeClr val="bg1"/>
                </a:solidFill>
                <a:latin typeface="Arial"/>
                <a:ea typeface="Arial"/>
                <a:cs typeface="Arial"/>
                <a:sym typeface="Arial"/>
              </a:rPr>
              <a:t>Guided by</a:t>
            </a:r>
          </a:p>
        </p:txBody>
      </p:sp>
      <p:sp>
        <p:nvSpPr>
          <p:cNvPr id="45" name="TextBox 44">
            <a:extLst>
              <a:ext uri="{FF2B5EF4-FFF2-40B4-BE49-F238E27FC236}">
                <a16:creationId xmlns:a16="http://schemas.microsoft.com/office/drawing/2014/main" id="{5F6B4A00-040F-FDB6-2131-846EB7188C53}"/>
              </a:ext>
            </a:extLst>
          </p:cNvPr>
          <p:cNvSpPr txBox="1"/>
          <p:nvPr/>
        </p:nvSpPr>
        <p:spPr>
          <a:xfrm>
            <a:off x="6073156" y="4090675"/>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Font typeface="Arial"/>
              <a:buAutoNum type="arabicPeriod"/>
            </a:pPr>
            <a:r>
              <a:rPr lang="en-US" sz="1100" dirty="0">
                <a:solidFill>
                  <a:schemeClr val="bg1">
                    <a:lumMod val="95000"/>
                  </a:schemeClr>
                </a:solidFill>
              </a:rPr>
              <a:t>Shailesh Yadav</a:t>
            </a:r>
          </a:p>
        </p:txBody>
      </p:sp>
      <p:cxnSp>
        <p:nvCxnSpPr>
          <p:cNvPr id="46" name="Straight Connector 45">
            <a:extLst>
              <a:ext uri="{FF2B5EF4-FFF2-40B4-BE49-F238E27FC236}">
                <a16:creationId xmlns:a16="http://schemas.microsoft.com/office/drawing/2014/main" id="{7C930180-14D0-979F-80DC-202E3B74AD60}"/>
              </a:ext>
            </a:extLst>
          </p:cNvPr>
          <p:cNvCxnSpPr>
            <a:cxnSpLocks/>
          </p:cNvCxnSpPr>
          <p:nvPr/>
        </p:nvCxnSpPr>
        <p:spPr>
          <a:xfrm>
            <a:off x="6131737" y="4097366"/>
            <a:ext cx="1603253" cy="30253"/>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242FDAC4-AE27-C374-87FA-1488045722F0}"/>
              </a:ext>
            </a:extLst>
          </p:cNvPr>
          <p:cNvGrpSpPr/>
          <p:nvPr/>
        </p:nvGrpSpPr>
        <p:grpSpPr>
          <a:xfrm>
            <a:off x="1162930" y="920127"/>
            <a:ext cx="3958300" cy="526469"/>
            <a:chOff x="1516338" y="1159739"/>
            <a:chExt cx="3608846" cy="660460"/>
          </a:xfrm>
        </p:grpSpPr>
        <p:cxnSp>
          <p:nvCxnSpPr>
            <p:cNvPr id="48" name="Straight Connector 47">
              <a:extLst>
                <a:ext uri="{FF2B5EF4-FFF2-40B4-BE49-F238E27FC236}">
                  <a16:creationId xmlns:a16="http://schemas.microsoft.com/office/drawing/2014/main" id="{E7602FD7-B850-30FC-6F11-B26765319CF5}"/>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49" name="Google Shape;110;p4" descr="A close up of a sign&#10;&#10;Description automatically generated">
              <a:extLst>
                <a:ext uri="{FF2B5EF4-FFF2-40B4-BE49-F238E27FC236}">
                  <a16:creationId xmlns:a16="http://schemas.microsoft.com/office/drawing/2014/main" id="{321F3B6E-D5C9-7BFA-7BDB-50FF890BB654}"/>
                </a:ext>
              </a:extLst>
            </p:cNvPr>
            <p:cNvPicPr preferRelativeResize="0"/>
            <p:nvPr/>
          </p:nvPicPr>
          <p:blipFill rotWithShape="1">
            <a:blip r:embed="rId5">
              <a:alphaModFix/>
            </a:blip>
            <a:srcRect/>
            <a:stretch/>
          </p:blipFill>
          <p:spPr>
            <a:xfrm>
              <a:off x="4237873" y="1341787"/>
              <a:ext cx="887311" cy="296622"/>
            </a:xfrm>
            <a:prstGeom prst="rect">
              <a:avLst/>
            </a:prstGeom>
            <a:noFill/>
            <a:ln>
              <a:noFill/>
            </a:ln>
          </p:spPr>
        </p:pic>
        <p:pic>
          <p:nvPicPr>
            <p:cNvPr id="50" name="Picture 49">
              <a:extLst>
                <a:ext uri="{FF2B5EF4-FFF2-40B4-BE49-F238E27FC236}">
                  <a16:creationId xmlns:a16="http://schemas.microsoft.com/office/drawing/2014/main" id="{E97570DF-6F54-74D9-731F-612CF788DA56}"/>
                </a:ext>
              </a:extLst>
            </p:cNvPr>
            <p:cNvPicPr/>
            <p:nvPr/>
          </p:nvPicPr>
          <p:blipFill>
            <a:blip r:embed="rId6"/>
            <a:stretch/>
          </p:blipFill>
          <p:spPr>
            <a:xfrm>
              <a:off x="1516338" y="1351451"/>
              <a:ext cx="1069048" cy="277034"/>
            </a:xfrm>
            <a:prstGeom prst="rect">
              <a:avLst/>
            </a:prstGeom>
            <a:ln w="0">
              <a:noFill/>
            </a:ln>
          </p:spPr>
        </p:pic>
        <p:cxnSp>
          <p:nvCxnSpPr>
            <p:cNvPr id="51" name="Straight Connector 50">
              <a:extLst>
                <a:ext uri="{FF2B5EF4-FFF2-40B4-BE49-F238E27FC236}">
                  <a16:creationId xmlns:a16="http://schemas.microsoft.com/office/drawing/2014/main" id="{C2C4709E-5DC8-3087-4DFF-5FD21D1AA1BA}"/>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52" name="Picture 51" descr="A logo with tools in a circle&#10;&#10;Description automatically generated">
              <a:extLst>
                <a:ext uri="{FF2B5EF4-FFF2-40B4-BE49-F238E27FC236}">
                  <a16:creationId xmlns:a16="http://schemas.microsoft.com/office/drawing/2014/main" id="{D5514759-EB9F-E36E-1FFF-E3E7F1E44AE5}"/>
                </a:ext>
              </a:extLst>
            </p:cNvPr>
            <p:cNvPicPr>
              <a:picLocks noChangeAspect="1"/>
            </p:cNvPicPr>
            <p:nvPr/>
          </p:nvPicPr>
          <p:blipFill>
            <a:blip r:embed="rId7"/>
            <a:stretch>
              <a:fillRect/>
            </a:stretch>
          </p:blipFill>
          <p:spPr>
            <a:xfrm>
              <a:off x="2993928" y="1159739"/>
              <a:ext cx="658966" cy="660460"/>
            </a:xfrm>
            <a:prstGeom prst="rect">
              <a:avLst/>
            </a:prstGeom>
          </p:spPr>
        </p:pic>
      </p:grpSp>
      <p:pic>
        <p:nvPicPr>
          <p:cNvPr id="21" name="Picture 20">
            <a:extLst>
              <a:ext uri="{FF2B5EF4-FFF2-40B4-BE49-F238E27FC236}">
                <a16:creationId xmlns:a16="http://schemas.microsoft.com/office/drawing/2014/main" id="{E55A9BE2-8C5B-0FE7-A9FB-233F4F8F60BC}"/>
              </a:ext>
            </a:extLst>
          </p:cNvPr>
          <p:cNvPicPr>
            <a:picLocks noChangeAspect="1"/>
          </p:cNvPicPr>
          <p:nvPr/>
        </p:nvPicPr>
        <p:blipFill>
          <a:blip r:embed="rId8"/>
          <a:stretch>
            <a:fillRect/>
          </a:stretch>
        </p:blipFill>
        <p:spPr>
          <a:xfrm>
            <a:off x="5710710" y="770048"/>
            <a:ext cx="3250563" cy="31092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705603" y="857250"/>
            <a:ext cx="4428068"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
        <p:nvSpPr>
          <p:cNvPr id="3" name="TextBox 2">
            <a:extLst>
              <a:ext uri="{FF2B5EF4-FFF2-40B4-BE49-F238E27FC236}">
                <a16:creationId xmlns:a16="http://schemas.microsoft.com/office/drawing/2014/main" id="{EF9BD2EF-E776-45B2-E9C7-034874DEA592}"/>
              </a:ext>
            </a:extLst>
          </p:cNvPr>
          <p:cNvSpPr txBox="1"/>
          <p:nvPr/>
        </p:nvSpPr>
        <p:spPr>
          <a:xfrm>
            <a:off x="403566" y="1448365"/>
            <a:ext cx="3023213" cy="2246769"/>
          </a:xfrm>
          <a:prstGeom prst="rect">
            <a:avLst/>
          </a:prstGeom>
          <a:noFill/>
        </p:spPr>
        <p:txBody>
          <a:bodyPr wrap="square" rtlCol="0">
            <a:spAutoFit/>
          </a:bodyPr>
          <a:lstStyle/>
          <a:p>
            <a:pPr marL="285750" indent="-285750">
              <a:spcBef>
                <a:spcPts val="1200"/>
              </a:spcBef>
              <a:spcAft>
                <a:spcPts val="200"/>
              </a:spcAft>
              <a:buClr>
                <a:schemeClr val="tx1"/>
              </a:buClr>
              <a:buSzPct val="100000"/>
              <a:buFont typeface="Wingdings" panose="05000000000000000000" pitchFamily="2" charset="2"/>
              <a:buChar char="Ø"/>
            </a:pPr>
            <a:r>
              <a:rPr lang="en-US" dirty="0"/>
              <a:t>Managing monthly expenses can be difficult because spending is divided into different categories such as food, travel, shopping, bills, and entertainment. Analyzing expense data can help identify spending patterns, major expense categories, and monthly changes in expenditure. </a:t>
            </a:r>
          </a:p>
        </p:txBody>
      </p:sp>
      <p:pic>
        <p:nvPicPr>
          <p:cNvPr id="8" name="Picture 7">
            <a:extLst>
              <a:ext uri="{FF2B5EF4-FFF2-40B4-BE49-F238E27FC236}">
                <a16:creationId xmlns:a16="http://schemas.microsoft.com/office/drawing/2014/main" id="{6FB4AF02-E840-0E2A-39F2-DCD9C02C2788}"/>
              </a:ext>
            </a:extLst>
          </p:cNvPr>
          <p:cNvPicPr>
            <a:picLocks noChangeAspect="1"/>
          </p:cNvPicPr>
          <p:nvPr/>
        </p:nvPicPr>
        <p:blipFill>
          <a:blip r:embed="rId3"/>
          <a:stretch>
            <a:fillRect/>
          </a:stretch>
        </p:blipFill>
        <p:spPr>
          <a:xfrm>
            <a:off x="4712933" y="857250"/>
            <a:ext cx="3134927" cy="3134927"/>
          </a:xfrm>
          <a:prstGeom prst="rect">
            <a:avLst/>
          </a:prstGeom>
        </p:spPr>
      </p:pic>
    </p:spTree>
    <p:extLst>
      <p:ext uri="{BB962C8B-B14F-4D97-AF65-F5344CB8AC3E}">
        <p14:creationId xmlns:p14="http://schemas.microsoft.com/office/powerpoint/2010/main" val="2746043547"/>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495933" y="745832"/>
            <a:ext cx="4428068" cy="400110"/>
          </a:xfrm>
          <a:prstGeom prst="rect">
            <a:avLst/>
          </a:prstGeom>
          <a:noFill/>
        </p:spPr>
        <p:txBody>
          <a:bodyPr wrap="square">
            <a:spAutoFit/>
          </a:bodyPr>
          <a:lstStyle/>
          <a:p>
            <a:r>
              <a:rPr lang="en-US" sz="2000" b="1" dirty="0">
                <a:solidFill>
                  <a:srgbClr val="002060"/>
                </a:solidFill>
                <a:latin typeface="Arial"/>
                <a:ea typeface="Arial"/>
                <a:cs typeface="Arial"/>
                <a:sym typeface="Arial"/>
              </a:rPr>
              <a:t>Solution</a:t>
            </a:r>
            <a:endParaRPr lang="en-IN" sz="2000" dirty="0">
              <a:solidFill>
                <a:srgbClr val="213163"/>
              </a:solidFill>
            </a:endParaRPr>
          </a:p>
        </p:txBody>
      </p:sp>
      <p:sp>
        <p:nvSpPr>
          <p:cNvPr id="26" name="Google Shape;134;p23">
            <a:extLst>
              <a:ext uri="{FF2B5EF4-FFF2-40B4-BE49-F238E27FC236}">
                <a16:creationId xmlns:a16="http://schemas.microsoft.com/office/drawing/2014/main" id="{65A026A1-4157-D47A-7261-C367C2DC72CF}"/>
              </a:ext>
            </a:extLst>
          </p:cNvPr>
          <p:cNvSpPr txBox="1"/>
          <p:nvPr/>
        </p:nvSpPr>
        <p:spPr>
          <a:xfrm>
            <a:off x="131949" y="1334305"/>
            <a:ext cx="4440051" cy="2863308"/>
          </a:xfrm>
          <a:prstGeom prst="rect">
            <a:avLst/>
          </a:prstGeom>
          <a:noFill/>
          <a:ln>
            <a:noFill/>
          </a:ln>
        </p:spPr>
        <p:txBody>
          <a:bodyPr spcFirstLastPara="1" wrap="square" lIns="91425" tIns="45700" rIns="91425" bIns="45700" anchor="t" anchorCtr="0">
            <a:spAutoFit/>
          </a:bodyPr>
          <a:lstStyle/>
          <a:p>
            <a:pPr marL="285750" lvl="0" indent="-285750">
              <a:buFont typeface="Wingdings" panose="05000000000000000000" pitchFamily="2" charset="2"/>
              <a:buChar char="Ø"/>
            </a:pPr>
            <a:r>
              <a:rPr lang="en-IN" dirty="0"/>
              <a:t>Use MS Excel to organize and analyse monthly expense data.</a:t>
            </a:r>
          </a:p>
          <a:p>
            <a:pPr marL="285750" lvl="0" indent="-285750">
              <a:buFont typeface="Wingdings" panose="05000000000000000000" pitchFamily="2" charset="2"/>
              <a:buChar char="Ø"/>
            </a:pPr>
            <a:r>
              <a:rPr lang="en-IN" dirty="0"/>
              <a:t>Categorize expenses into Food, Travel, Shopping, Bills, and Entertainment.</a:t>
            </a:r>
          </a:p>
          <a:p>
            <a:pPr marL="285750" lvl="0" indent="-285750">
              <a:buFont typeface="Wingdings" panose="05000000000000000000" pitchFamily="2" charset="2"/>
              <a:buChar char="Ø"/>
            </a:pPr>
            <a:r>
              <a:rPr lang="en-IN" dirty="0"/>
              <a:t>Calculate total and category-wise expenses.</a:t>
            </a:r>
          </a:p>
          <a:p>
            <a:pPr marL="285750" lvl="0" indent="-285750">
              <a:buFont typeface="Wingdings" panose="05000000000000000000" pitchFamily="2" charset="2"/>
              <a:buChar char="Ø"/>
            </a:pPr>
            <a:r>
              <a:rPr lang="en-IN" dirty="0"/>
              <a:t>Compare monthly expenses to identify spending</a:t>
            </a:r>
            <a:r>
              <a:rPr lang="en-IN" b="1" dirty="0"/>
              <a:t> </a:t>
            </a:r>
            <a:r>
              <a:rPr lang="en-IN" dirty="0"/>
              <a:t>patterns and changes.</a:t>
            </a:r>
          </a:p>
          <a:p>
            <a:pPr marL="285750" lvl="0" indent="-285750">
              <a:buFont typeface="Wingdings" panose="05000000000000000000" pitchFamily="2" charset="2"/>
              <a:buChar char="Ø"/>
            </a:pPr>
            <a:r>
              <a:rPr lang="en-IN" dirty="0"/>
              <a:t>Use charts and graphs to visualize the data.</a:t>
            </a:r>
          </a:p>
          <a:p>
            <a:pPr marL="285750" lvl="0" indent="-285750">
              <a:buFont typeface="Wingdings" panose="05000000000000000000" pitchFamily="2" charset="2"/>
              <a:buChar char="Ø"/>
            </a:pPr>
            <a:r>
              <a:rPr lang="en-IN" dirty="0"/>
              <a:t>Identify major expense categories and areas where spending can be better managed.</a:t>
            </a:r>
          </a:p>
          <a:p>
            <a:pPr marL="285750" indent="-285750">
              <a:buFont typeface="Wingdings" panose="05000000000000000000" pitchFamily="2" charset="2"/>
              <a:buChar char="Ø"/>
            </a:pPr>
            <a:endParaRPr lang="en-IN" b="1" dirty="0"/>
          </a:p>
          <a:p>
            <a:pPr marL="342900" indent="-342900">
              <a:lnSpc>
                <a:spcPct val="90000"/>
              </a:lnSpc>
              <a:spcBef>
                <a:spcPts val="1200"/>
              </a:spcBef>
              <a:spcAft>
                <a:spcPts val="200"/>
              </a:spcAft>
              <a:buClr>
                <a:schemeClr val="tx1"/>
              </a:buClr>
              <a:buSzPct val="100000"/>
              <a:buFont typeface="Wingdings" panose="05000000000000000000" pitchFamily="2" charset="2"/>
              <a:buChar char="v"/>
            </a:pPr>
            <a:endParaRPr lang="en-US" sz="1600" dirty="0">
              <a:solidFill>
                <a:schemeClr val="tx1">
                  <a:lumMod val="75000"/>
                  <a:lumOff val="25000"/>
                </a:schemeClr>
              </a:solidFill>
            </a:endParaRPr>
          </a:p>
        </p:txBody>
      </p:sp>
      <p:pic>
        <p:nvPicPr>
          <p:cNvPr id="23" name="Picture 22" descr="Monthly Budget Template Dashboard Summary Excel Download | Etsy">
            <a:extLst>
              <a:ext uri="{FF2B5EF4-FFF2-40B4-BE49-F238E27FC236}">
                <a16:creationId xmlns:a16="http://schemas.microsoft.com/office/drawing/2014/main" id="{9303D70A-6C72-CD49-DC3E-A561D7A45AF9}"/>
              </a:ext>
            </a:extLst>
          </p:cNvPr>
          <p:cNvPicPr>
            <a:picLocks noChangeAspect="1"/>
          </p:cNvPicPr>
          <p:nvPr/>
        </p:nvPicPr>
        <p:blipFill>
          <a:blip r:embed="rId3"/>
          <a:stretch>
            <a:fillRect/>
          </a:stretch>
        </p:blipFill>
        <p:spPr>
          <a:xfrm>
            <a:off x="4693183" y="1432296"/>
            <a:ext cx="4107486" cy="2154619"/>
          </a:xfrm>
          <a:prstGeom prst="rect">
            <a:avLst/>
          </a:prstGeom>
        </p:spPr>
      </p:pic>
    </p:spTree>
    <p:extLst>
      <p:ext uri="{BB962C8B-B14F-4D97-AF65-F5344CB8AC3E}">
        <p14:creationId xmlns:p14="http://schemas.microsoft.com/office/powerpoint/2010/main" val="2975191714"/>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a:extLst>
              <a:ext uri="{FF2B5EF4-FFF2-40B4-BE49-F238E27FC236}">
                <a16:creationId xmlns:a16="http://schemas.microsoft.com/office/drawing/2014/main" id="{CC2ED9E3-05F2-5ECD-DD5B-3430C263D9B6}"/>
              </a:ext>
            </a:extLst>
          </p:cNvPr>
          <p:cNvSpPr txBox="1">
            <a:spLocks/>
          </p:cNvSpPr>
          <p:nvPr/>
        </p:nvSpPr>
        <p:spPr>
          <a:xfrm>
            <a:off x="623400" y="597559"/>
            <a:ext cx="8520600" cy="40006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002060"/>
                </a:solidFill>
              </a:rPr>
              <a:t>Project Demo</a:t>
            </a:r>
          </a:p>
        </p:txBody>
      </p:sp>
      <p:pic>
        <p:nvPicPr>
          <p:cNvPr id="7" name="Picture 6">
            <a:extLst>
              <a:ext uri="{FF2B5EF4-FFF2-40B4-BE49-F238E27FC236}">
                <a16:creationId xmlns:a16="http://schemas.microsoft.com/office/drawing/2014/main" id="{A09F8597-78C6-73BE-4DF7-1ACA4D7D205F}"/>
              </a:ext>
            </a:extLst>
          </p:cNvPr>
          <p:cNvPicPr>
            <a:picLocks noChangeAspect="1"/>
          </p:cNvPicPr>
          <p:nvPr/>
        </p:nvPicPr>
        <p:blipFill>
          <a:blip r:embed="rId3"/>
          <a:stretch>
            <a:fillRect/>
          </a:stretch>
        </p:blipFill>
        <p:spPr>
          <a:xfrm>
            <a:off x="253383" y="1346632"/>
            <a:ext cx="4318618" cy="2799240"/>
          </a:xfrm>
          <a:prstGeom prst="rect">
            <a:avLst/>
          </a:prstGeom>
        </p:spPr>
      </p:pic>
      <p:pic>
        <p:nvPicPr>
          <p:cNvPr id="9" name="Picture 8">
            <a:extLst>
              <a:ext uri="{FF2B5EF4-FFF2-40B4-BE49-F238E27FC236}">
                <a16:creationId xmlns:a16="http://schemas.microsoft.com/office/drawing/2014/main" id="{02B9F944-B71F-5598-36B7-AAA69B3E5F0E}"/>
              </a:ext>
            </a:extLst>
          </p:cNvPr>
          <p:cNvPicPr>
            <a:picLocks noChangeAspect="1"/>
          </p:cNvPicPr>
          <p:nvPr/>
        </p:nvPicPr>
        <p:blipFill>
          <a:blip r:embed="rId4"/>
          <a:stretch>
            <a:fillRect/>
          </a:stretch>
        </p:blipFill>
        <p:spPr>
          <a:xfrm>
            <a:off x="4720918" y="1346631"/>
            <a:ext cx="4318618" cy="2941283"/>
          </a:xfrm>
          <a:prstGeom prst="rect">
            <a:avLst/>
          </a:prstGeom>
        </p:spPr>
      </p:pic>
    </p:spTree>
    <p:extLst>
      <p:ext uri="{BB962C8B-B14F-4D97-AF65-F5344CB8AC3E}">
        <p14:creationId xmlns:p14="http://schemas.microsoft.com/office/powerpoint/2010/main" val="4017130557"/>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4" name="Google Shape;127;p22">
            <a:extLst>
              <a:ext uri="{FF2B5EF4-FFF2-40B4-BE49-F238E27FC236}">
                <a16:creationId xmlns:a16="http://schemas.microsoft.com/office/drawing/2014/main" id="{8896CF32-2381-134F-850C-1B4E39261E20}"/>
              </a:ext>
            </a:extLst>
          </p:cNvPr>
          <p:cNvSpPr txBox="1">
            <a:spLocks/>
          </p:cNvSpPr>
          <p:nvPr/>
        </p:nvSpPr>
        <p:spPr>
          <a:xfrm>
            <a:off x="500386" y="735693"/>
            <a:ext cx="8520600" cy="40006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002060"/>
                </a:solidFill>
              </a:rPr>
              <a:t>Future Scope</a:t>
            </a:r>
          </a:p>
        </p:txBody>
      </p:sp>
      <p:sp>
        <p:nvSpPr>
          <p:cNvPr id="8" name="Google Shape;134;p23">
            <a:extLst>
              <a:ext uri="{FF2B5EF4-FFF2-40B4-BE49-F238E27FC236}">
                <a16:creationId xmlns:a16="http://schemas.microsoft.com/office/drawing/2014/main" id="{57335198-79A6-CAA5-2CC6-0BB009B8F43A}"/>
              </a:ext>
            </a:extLst>
          </p:cNvPr>
          <p:cNvSpPr txBox="1"/>
          <p:nvPr/>
        </p:nvSpPr>
        <p:spPr>
          <a:xfrm>
            <a:off x="190601" y="1257858"/>
            <a:ext cx="4440051" cy="2893059"/>
          </a:xfrm>
          <a:prstGeom prst="rect">
            <a:avLst/>
          </a:prstGeom>
          <a:noFill/>
          <a:ln>
            <a:noFill/>
          </a:ln>
        </p:spPr>
        <p:txBody>
          <a:bodyPr spcFirstLastPara="1" wrap="square" lIns="91425" tIns="45700" rIns="91425" bIns="45700" anchor="t" anchorCtr="0">
            <a:spAutoFit/>
          </a:bodyPr>
          <a:lstStyle/>
          <a:p>
            <a:pPr marL="285750" lvl="0" indent="-285750">
              <a:buFont typeface="Wingdings" panose="05000000000000000000" pitchFamily="2" charset="2"/>
              <a:buChar char="Ø"/>
            </a:pPr>
            <a:r>
              <a:rPr lang="en-IN" dirty="0"/>
              <a:t>Develop an automated expense tracking system for regular data updates.</a:t>
            </a:r>
          </a:p>
          <a:p>
            <a:pPr marL="285750" lvl="0" indent="-285750">
              <a:buFont typeface="Wingdings" panose="05000000000000000000" pitchFamily="2" charset="2"/>
              <a:buChar char="Ø"/>
            </a:pPr>
            <a:r>
              <a:rPr lang="en-IN" dirty="0"/>
              <a:t>Create an interactive Excel Dashboard with filters and slicers.</a:t>
            </a:r>
          </a:p>
          <a:p>
            <a:pPr marL="285750" lvl="0" indent="-285750">
              <a:buFont typeface="Wingdings" panose="05000000000000000000" pitchFamily="2" charset="2"/>
              <a:buChar char="Ø"/>
            </a:pPr>
            <a:r>
              <a:rPr lang="en-IN" dirty="0"/>
              <a:t>Add budget planning and monthly spending limits.</a:t>
            </a:r>
          </a:p>
          <a:p>
            <a:pPr marL="285750" lvl="0" indent="-285750">
              <a:buFont typeface="Wingdings" panose="05000000000000000000" pitchFamily="2" charset="2"/>
              <a:buChar char="Ø"/>
            </a:pPr>
            <a:r>
              <a:rPr lang="en-IN" dirty="0"/>
              <a:t>Generate alerts when expenses exceed the planned budget.</a:t>
            </a:r>
          </a:p>
          <a:p>
            <a:pPr marL="285750" lvl="0" indent="-285750">
              <a:buFont typeface="Wingdings" panose="05000000000000000000" pitchFamily="2" charset="2"/>
              <a:buChar char="Ø"/>
            </a:pPr>
            <a:r>
              <a:rPr lang="en-IN" dirty="0"/>
              <a:t>Use historical data to identify long-term spending trends.</a:t>
            </a:r>
          </a:p>
          <a:p>
            <a:pPr marL="285750" lvl="0" indent="-285750">
              <a:buFont typeface="Wingdings" panose="05000000000000000000" pitchFamily="2" charset="2"/>
              <a:buChar char="Ø"/>
            </a:pPr>
            <a:r>
              <a:rPr lang="en-IN" dirty="0"/>
              <a:t>Integrate the system with Power BI or other data</a:t>
            </a:r>
            <a:r>
              <a:rPr lang="en-IN" b="1" dirty="0"/>
              <a:t> </a:t>
            </a:r>
            <a:r>
              <a:rPr lang="en-IN" dirty="0"/>
              <a:t>visualization tools for advanced analysis.</a:t>
            </a:r>
          </a:p>
          <a:p>
            <a:pPr marL="285750" lvl="0" indent="-285750">
              <a:buFont typeface="Wingdings" panose="05000000000000000000" pitchFamily="2" charset="2"/>
              <a:buChar char="Ø"/>
            </a:pPr>
            <a:r>
              <a:rPr lang="en-IN" dirty="0"/>
              <a:t>Expand the project into a mobile or web-based expense management application.</a:t>
            </a:r>
          </a:p>
        </p:txBody>
      </p:sp>
      <p:pic>
        <p:nvPicPr>
          <p:cNvPr id="7" name="Picture 6" descr="Career growth Detailed Flat Circular Flat icon">
            <a:extLst>
              <a:ext uri="{FF2B5EF4-FFF2-40B4-BE49-F238E27FC236}">
                <a16:creationId xmlns:a16="http://schemas.microsoft.com/office/drawing/2014/main" id="{14E86FDF-C3D5-C967-F1A0-D5F7DD7EAC02}"/>
              </a:ext>
            </a:extLst>
          </p:cNvPr>
          <p:cNvPicPr>
            <a:picLocks noChangeAspect="1"/>
          </p:cNvPicPr>
          <p:nvPr/>
        </p:nvPicPr>
        <p:blipFill>
          <a:blip r:embed="rId3"/>
          <a:stretch>
            <a:fillRect/>
          </a:stretch>
        </p:blipFill>
        <p:spPr>
          <a:xfrm>
            <a:off x="4760686" y="908851"/>
            <a:ext cx="3498956" cy="3498956"/>
          </a:xfrm>
          <a:prstGeom prst="rect">
            <a:avLst/>
          </a:prstGeom>
        </p:spPr>
      </p:pic>
    </p:spTree>
    <p:extLst>
      <p:ext uri="{BB962C8B-B14F-4D97-AF65-F5344CB8AC3E}">
        <p14:creationId xmlns:p14="http://schemas.microsoft.com/office/powerpoint/2010/main" val="2621200212"/>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a:extLst>
              <a:ext uri="{FF2B5EF4-FFF2-40B4-BE49-F238E27FC236}">
                <a16:creationId xmlns:a16="http://schemas.microsoft.com/office/drawing/2014/main" id="{2CBB2190-2983-5B07-C14F-C0C1B82BC484}"/>
              </a:ext>
            </a:extLst>
          </p:cNvPr>
          <p:cNvSpPr txBox="1">
            <a:spLocks/>
          </p:cNvSpPr>
          <p:nvPr/>
        </p:nvSpPr>
        <p:spPr>
          <a:xfrm>
            <a:off x="710214" y="665581"/>
            <a:ext cx="8520600" cy="40006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000" b="1" dirty="0">
                <a:solidFill>
                  <a:srgbClr val="002060"/>
                </a:solidFill>
              </a:rPr>
              <a:t>Conclusion</a:t>
            </a:r>
          </a:p>
        </p:txBody>
      </p:sp>
      <p:sp>
        <p:nvSpPr>
          <p:cNvPr id="8" name="Google Shape;134;p23">
            <a:extLst>
              <a:ext uri="{FF2B5EF4-FFF2-40B4-BE49-F238E27FC236}">
                <a16:creationId xmlns:a16="http://schemas.microsoft.com/office/drawing/2014/main" id="{F656EEBA-FCC6-FE6F-EAF7-837658983D56}"/>
              </a:ext>
            </a:extLst>
          </p:cNvPr>
          <p:cNvSpPr txBox="1"/>
          <p:nvPr/>
        </p:nvSpPr>
        <p:spPr>
          <a:xfrm>
            <a:off x="431152" y="1256185"/>
            <a:ext cx="3901151" cy="2893059"/>
          </a:xfrm>
          <a:prstGeom prst="rect">
            <a:avLst/>
          </a:prstGeom>
          <a:noFill/>
          <a:ln>
            <a:noFill/>
          </a:ln>
        </p:spPr>
        <p:txBody>
          <a:bodyPr spcFirstLastPara="1" wrap="square" lIns="91425" tIns="45700" rIns="91425" bIns="45700" anchor="t" anchorCtr="0">
            <a:spAutoFit/>
          </a:bodyPr>
          <a:lstStyle/>
          <a:p>
            <a:pPr marL="285750" lvl="0" indent="-285750">
              <a:buFont typeface="Wingdings" panose="05000000000000000000" pitchFamily="2" charset="2"/>
              <a:buChar char="Ø"/>
            </a:pPr>
            <a:r>
              <a:rPr lang="en-IN" dirty="0"/>
              <a:t>MS Excel provides an easy and effective way to analyse monthly expenses.</a:t>
            </a:r>
          </a:p>
          <a:p>
            <a:pPr marL="285750" lvl="0" indent="-285750">
              <a:buFont typeface="Wingdings" panose="05000000000000000000" pitchFamily="2" charset="2"/>
              <a:buChar char="Ø"/>
            </a:pPr>
            <a:r>
              <a:rPr lang="en-IN" dirty="0"/>
              <a:t>Categorizing expenses helps in understanding </a:t>
            </a:r>
            <a:r>
              <a:rPr lang="en-IN" b="1" dirty="0"/>
              <a:t>where money is being spent</a:t>
            </a:r>
            <a:r>
              <a:rPr lang="en-IN" dirty="0"/>
              <a:t>.</a:t>
            </a:r>
          </a:p>
          <a:p>
            <a:pPr marL="285750" lvl="0" indent="-285750">
              <a:buFont typeface="Wingdings" panose="05000000000000000000" pitchFamily="2" charset="2"/>
              <a:buChar char="Ø"/>
            </a:pPr>
            <a:r>
              <a:rPr lang="en-IN" dirty="0"/>
              <a:t>Charts and graphs make </a:t>
            </a:r>
            <a:r>
              <a:rPr lang="en-IN" b="1" dirty="0"/>
              <a:t>spending patterns and monthly changes</a:t>
            </a:r>
            <a:r>
              <a:rPr lang="en-IN" dirty="0"/>
              <a:t> easier to understand.</a:t>
            </a:r>
          </a:p>
          <a:p>
            <a:pPr marL="285750" lvl="0" indent="-285750">
              <a:buFont typeface="Wingdings" panose="05000000000000000000" pitchFamily="2" charset="2"/>
              <a:buChar char="Ø"/>
            </a:pPr>
            <a:r>
              <a:rPr lang="en-IN" dirty="0"/>
              <a:t>The analysis helps identify </a:t>
            </a:r>
            <a:r>
              <a:rPr lang="en-IN" b="1" dirty="0"/>
              <a:t>major expense categories</a:t>
            </a:r>
            <a:r>
              <a:rPr lang="en-IN" dirty="0"/>
              <a:t> and areas of high spending.</a:t>
            </a:r>
          </a:p>
          <a:p>
            <a:pPr marL="285750" lvl="0" indent="-285750">
              <a:buFont typeface="Wingdings" panose="05000000000000000000" pitchFamily="2" charset="2"/>
              <a:buChar char="Ø"/>
            </a:pPr>
            <a:r>
              <a:rPr lang="en-IN" dirty="0"/>
              <a:t>Overall, this project supports </a:t>
            </a:r>
            <a:r>
              <a:rPr lang="en-IN" b="1" dirty="0"/>
              <a:t>better expense tracking, budgeting, and financial planning</a:t>
            </a:r>
            <a:r>
              <a:rPr lang="en-IN" dirty="0"/>
              <a:t>.</a:t>
            </a:r>
          </a:p>
        </p:txBody>
      </p:sp>
      <p:pic>
        <p:nvPicPr>
          <p:cNvPr id="4" name="Picture 3" descr="Presentation Conclusion Stock Images - Download 473 Royalty Free Photos">
            <a:extLst>
              <a:ext uri="{FF2B5EF4-FFF2-40B4-BE49-F238E27FC236}">
                <a16:creationId xmlns:a16="http://schemas.microsoft.com/office/drawing/2014/main" id="{F57BB233-5B79-BF55-CE91-021359A2DFE0}"/>
              </a:ext>
            </a:extLst>
          </p:cNvPr>
          <p:cNvPicPr>
            <a:picLocks noChangeAspect="1"/>
          </p:cNvPicPr>
          <p:nvPr/>
        </p:nvPicPr>
        <p:blipFill>
          <a:blip r:embed="rId3"/>
          <a:srcRect b="9205"/>
          <a:stretch>
            <a:fillRect/>
          </a:stretch>
        </p:blipFill>
        <p:spPr>
          <a:xfrm>
            <a:off x="4817938" y="1256185"/>
            <a:ext cx="3624726" cy="2649990"/>
          </a:xfrm>
          <a:prstGeom prst="rect">
            <a:avLst/>
          </a:prstGeom>
        </p:spPr>
      </p:pic>
    </p:spTree>
    <p:extLst>
      <p:ext uri="{BB962C8B-B14F-4D97-AF65-F5344CB8AC3E}">
        <p14:creationId xmlns:p14="http://schemas.microsoft.com/office/powerpoint/2010/main" val="3104766145"/>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000+ Free Thank You Transparent &amp; Thank You Images - Pixabay">
            <a:extLst>
              <a:ext uri="{FF2B5EF4-FFF2-40B4-BE49-F238E27FC236}">
                <a16:creationId xmlns:a16="http://schemas.microsoft.com/office/drawing/2014/main" id="{288964BE-97CF-E308-EE7A-631C1E48C105}"/>
              </a:ext>
            </a:extLst>
          </p:cNvPr>
          <p:cNvPicPr>
            <a:picLocks noChangeAspect="1"/>
          </p:cNvPicPr>
          <p:nvPr/>
        </p:nvPicPr>
        <p:blipFill>
          <a:blip r:embed="rId3"/>
          <a:srcRect l="1717" t="1121" r="184" b="2450"/>
          <a:stretch>
            <a:fillRect/>
          </a:stretch>
        </p:blipFill>
        <p:spPr>
          <a:xfrm>
            <a:off x="2112886" y="494374"/>
            <a:ext cx="4696288" cy="4154751"/>
          </a:xfrm>
          <a:prstGeom prst="rect">
            <a:avLst/>
          </a:prstGeom>
        </p:spPr>
      </p:pic>
    </p:spTree>
    <p:extLst>
      <p:ext uri="{BB962C8B-B14F-4D97-AF65-F5344CB8AC3E}">
        <p14:creationId xmlns:p14="http://schemas.microsoft.com/office/powerpoint/2010/main" val="3544365122"/>
      </p:ext>
    </p:extLst>
  </p:cSld>
  <p:clrMapOvr>
    <a:masterClrMapping/>
  </p:clrMapOvr>
  <mc:AlternateContent xmlns:mc="http://schemas.openxmlformats.org/markup-compatibility/2006">
    <mc:Choice xmlns:p14="http://schemas.microsoft.com/office/powerpoint/2010/main" Requires="p14">
      <p:transition spd="slow" p14:dur="3400" advTm="1000">
        <p14:reveal/>
      </p:transition>
    </mc:Choice>
    <mc:Fallback>
      <p:transition spd="slow" advTm="1000">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6559A34-456E-49A1-8157-9E3D18BFAD36}">
  <ds:schemaRefs>
    <ds:schemaRef ds:uri="http://purl.org/dc/dcmitype/"/>
    <ds:schemaRef ds:uri="http://schemas.microsoft.com/office/2006/metadata/properties"/>
    <ds:schemaRef ds:uri="http://schemas.openxmlformats.org/package/2006/metadata/core-properties"/>
    <ds:schemaRef ds:uri="http://purl.org/dc/elements/1.1/"/>
    <ds:schemaRef ds:uri="http://purl.org/dc/terms/"/>
    <ds:schemaRef ds:uri="http://schemas.microsoft.com/office/2006/documentManagement/types"/>
    <ds:schemaRef ds:uri="http://www.w3.org/XML/1998/namespace"/>
    <ds:schemaRef ds:uri="http://schemas.microsoft.com/office/infopath/2007/PartnerControls"/>
    <ds:schemaRef ds:uri="c0fa2617-96bd-425d-8578-e93563fe37c5"/>
    <ds:schemaRef ds:uri="9162bd5b-4ed9-4da3-b376-05204580ba3f"/>
  </ds:schemaRefs>
</ds:datastoreItem>
</file>

<file path=docProps/app.xml><?xml version="1.0" encoding="utf-8"?>
<Properties xmlns="http://schemas.openxmlformats.org/officeDocument/2006/extended-properties" xmlns:vt="http://schemas.openxmlformats.org/officeDocument/2006/docPropsVTypes">
  <Template/>
  <TotalTime>339</TotalTime>
  <Words>289</Words>
  <Application>Microsoft Office PowerPoint</Application>
  <PresentationFormat>On-screen Show (16:9)</PresentationFormat>
  <Paragraphs>45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Supriya</cp:lastModifiedBy>
  <cp:revision>45</cp:revision>
  <dcterms:modified xsi:type="dcterms:W3CDTF">2026-09-23T07:07:26Z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